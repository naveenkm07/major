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81" r:id="rId13"/>
    <p:sldId id="282" r:id="rId14"/>
    <p:sldId id="277" r:id="rId15"/>
    <p:sldId id="278" r:id="rId16"/>
    <p:sldId id="279" r:id="rId17"/>
    <p:sldId id="280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05B477-FFF4-45E9-84AE-9CF7CC07821C}" v="2" dt="2026-09-25T16:53:02.2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5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n Viraktamath" userId="f48dd6fcd7604d86" providerId="LiveId" clId="{E941178D-1FA4-4257-A8B5-E09813CF4440}"/>
    <pc:docChg chg="custSel addSld modSld">
      <pc:chgData name="Arun Viraktamath" userId="f48dd6fcd7604d86" providerId="LiveId" clId="{E941178D-1FA4-4257-A8B5-E09813CF4440}" dt="2026-09-25T16:54:12.040" v="92" actId="1076"/>
      <pc:docMkLst>
        <pc:docMk/>
      </pc:docMkLst>
      <pc:sldChg chg="modSp mod">
        <pc:chgData name="Arun Viraktamath" userId="f48dd6fcd7604d86" providerId="LiveId" clId="{E941178D-1FA4-4257-A8B5-E09813CF4440}" dt="2026-09-25T16:47:21.188" v="69" actId="1076"/>
        <pc:sldMkLst>
          <pc:docMk/>
          <pc:sldMk cId="2674041775" sldId="256"/>
        </pc:sldMkLst>
        <pc:spChg chg="mod">
          <ac:chgData name="Arun Viraktamath" userId="f48dd6fcd7604d86" providerId="LiveId" clId="{E941178D-1FA4-4257-A8B5-E09813CF4440}" dt="2026-09-25T16:47:21.188" v="69" actId="1076"/>
          <ac:spMkLst>
            <pc:docMk/>
            <pc:sldMk cId="2674041775" sldId="256"/>
            <ac:spMk id="2" creationId="{87F8B642-E872-4A6B-85E6-BD01ADE0F3D6}"/>
          </ac:spMkLst>
        </pc:spChg>
        <pc:spChg chg="mod">
          <ac:chgData name="Arun Viraktamath" userId="f48dd6fcd7604d86" providerId="LiveId" clId="{E941178D-1FA4-4257-A8B5-E09813CF4440}" dt="2026-09-25T16:46:26.724" v="68" actId="14100"/>
          <ac:spMkLst>
            <pc:docMk/>
            <pc:sldMk cId="2674041775" sldId="256"/>
            <ac:spMk id="3" creationId="{A7C71265-A569-1842-9AA9-A6696202FE6C}"/>
          </ac:spMkLst>
        </pc:spChg>
      </pc:sldChg>
      <pc:sldChg chg="addSp delSp modSp mod">
        <pc:chgData name="Arun Viraktamath" userId="f48dd6fcd7604d86" providerId="LiveId" clId="{E941178D-1FA4-4257-A8B5-E09813CF4440}" dt="2026-09-25T16:53:17.129" v="84" actId="1076"/>
        <pc:sldMkLst>
          <pc:docMk/>
          <pc:sldMk cId="740642248" sldId="276"/>
        </pc:sldMkLst>
        <pc:spChg chg="mod">
          <ac:chgData name="Arun Viraktamath" userId="f48dd6fcd7604d86" providerId="LiveId" clId="{E941178D-1FA4-4257-A8B5-E09813CF4440}" dt="2026-09-25T16:53:17.129" v="84" actId="1076"/>
          <ac:spMkLst>
            <pc:docMk/>
            <pc:sldMk cId="740642248" sldId="276"/>
            <ac:spMk id="3" creationId="{00000000-0000-0000-0000-000000000000}"/>
          </ac:spMkLst>
        </pc:spChg>
        <pc:spChg chg="add del mod">
          <ac:chgData name="Arun Viraktamath" userId="f48dd6fcd7604d86" providerId="LiveId" clId="{E941178D-1FA4-4257-A8B5-E09813CF4440}" dt="2026-09-25T16:50:58.739" v="73"/>
          <ac:spMkLst>
            <pc:docMk/>
            <pc:sldMk cId="740642248" sldId="276"/>
            <ac:spMk id="6" creationId="{3CBFC2BB-B9BE-BBD2-04C5-D781EB6F467B}"/>
          </ac:spMkLst>
        </pc:spChg>
        <pc:spChg chg="add del mod">
          <ac:chgData name="Arun Viraktamath" userId="f48dd6fcd7604d86" providerId="LiveId" clId="{E941178D-1FA4-4257-A8B5-E09813CF4440}" dt="2026-09-25T16:53:13.085" v="83" actId="21"/>
          <ac:spMkLst>
            <pc:docMk/>
            <pc:sldMk cId="740642248" sldId="276"/>
            <ac:spMk id="7" creationId="{6F4AB04F-4234-EAD4-90D4-A6D6475DAB76}"/>
          </ac:spMkLst>
        </pc:spChg>
      </pc:sldChg>
      <pc:sldChg chg="addSp delSp modSp new mod">
        <pc:chgData name="Arun Viraktamath" userId="f48dd6fcd7604d86" providerId="LiveId" clId="{E941178D-1FA4-4257-A8B5-E09813CF4440}" dt="2026-09-25T16:52:53.561" v="80" actId="14100"/>
        <pc:sldMkLst>
          <pc:docMk/>
          <pc:sldMk cId="3196197075" sldId="281"/>
        </pc:sldMkLst>
        <pc:spChg chg="del">
          <ac:chgData name="Arun Viraktamath" userId="f48dd6fcd7604d86" providerId="LiveId" clId="{E941178D-1FA4-4257-A8B5-E09813CF4440}" dt="2026-09-25T16:52:41.863" v="77" actId="21"/>
          <ac:spMkLst>
            <pc:docMk/>
            <pc:sldMk cId="3196197075" sldId="281"/>
            <ac:spMk id="2" creationId="{5EB58A57-02D4-312F-AD69-B90E1465F89A}"/>
          </ac:spMkLst>
        </pc:spChg>
        <pc:spChg chg="del">
          <ac:chgData name="Arun Viraktamath" userId="f48dd6fcd7604d86" providerId="LiveId" clId="{E941178D-1FA4-4257-A8B5-E09813CF4440}" dt="2026-09-25T16:52:28.400" v="75" actId="22"/>
          <ac:spMkLst>
            <pc:docMk/>
            <pc:sldMk cId="3196197075" sldId="281"/>
            <ac:spMk id="3" creationId="{40339BA4-22E3-5115-4D9D-9C4019CF2EBA}"/>
          </ac:spMkLst>
        </pc:spChg>
        <pc:picChg chg="add mod ord">
          <ac:chgData name="Arun Viraktamath" userId="f48dd6fcd7604d86" providerId="LiveId" clId="{E941178D-1FA4-4257-A8B5-E09813CF4440}" dt="2026-09-25T16:52:53.561" v="80" actId="14100"/>
          <ac:picMkLst>
            <pc:docMk/>
            <pc:sldMk cId="3196197075" sldId="281"/>
            <ac:picMk id="5" creationId="{5F1E33A6-991A-9006-265D-051C845EF168}"/>
          </ac:picMkLst>
        </pc:picChg>
      </pc:sldChg>
      <pc:sldChg chg="addSp delSp modSp new mod">
        <pc:chgData name="Arun Viraktamath" userId="f48dd6fcd7604d86" providerId="LiveId" clId="{E941178D-1FA4-4257-A8B5-E09813CF4440}" dt="2026-09-25T16:54:12.040" v="92" actId="1076"/>
        <pc:sldMkLst>
          <pc:docMk/>
          <pc:sldMk cId="1376923669" sldId="282"/>
        </pc:sldMkLst>
        <pc:spChg chg="del">
          <ac:chgData name="Arun Viraktamath" userId="f48dd6fcd7604d86" providerId="LiveId" clId="{E941178D-1FA4-4257-A8B5-E09813CF4440}" dt="2026-09-25T16:53:58.687" v="87" actId="478"/>
          <ac:spMkLst>
            <pc:docMk/>
            <pc:sldMk cId="1376923669" sldId="282"/>
            <ac:spMk id="2" creationId="{06CFD5FF-35E9-CBA0-2B38-0ECD7322C293}"/>
          </ac:spMkLst>
        </pc:spChg>
        <pc:spChg chg="del">
          <ac:chgData name="Arun Viraktamath" userId="f48dd6fcd7604d86" providerId="LiveId" clId="{E941178D-1FA4-4257-A8B5-E09813CF4440}" dt="2026-09-25T16:53:50.410" v="86" actId="22"/>
          <ac:spMkLst>
            <pc:docMk/>
            <pc:sldMk cId="1376923669" sldId="282"/>
            <ac:spMk id="3" creationId="{EE9E2A32-21C0-0CEE-BAE9-61D30A5B248C}"/>
          </ac:spMkLst>
        </pc:spChg>
        <pc:picChg chg="add mod ord">
          <ac:chgData name="Arun Viraktamath" userId="f48dd6fcd7604d86" providerId="LiveId" clId="{E941178D-1FA4-4257-A8B5-E09813CF4440}" dt="2026-09-25T16:54:12.040" v="92" actId="1076"/>
          <ac:picMkLst>
            <pc:docMk/>
            <pc:sldMk cId="1376923669" sldId="282"/>
            <ac:picMk id="5" creationId="{64DC1472-2874-F7BD-381C-271E510D44C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61EEE-23F8-4397-A609-1B9B4F6E3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6E9F9-2062-4664-8F90-D110AFA9E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64D1F-2A08-4996-B91B-E4C45B939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5B5A9-52A4-4F9B-AD93-A2B61B08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C5057-F5C3-4C61-B704-A85575F6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554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C404B-2584-405B-BF2E-35F94D044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E00CD-071B-486A-BD56-2FC607DD9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66549-4552-48E8-B597-BF44BBDD1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4C52D-ABD5-4248-A23A-CFA4DC8A6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42182-CD45-48DB-ACB5-115DAF8C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884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6FCAD-EB27-49C3-ADCB-567453B3B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B0736-3B58-44D4-8AD6-B67D9A53A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768BC-7DB8-44BC-B030-90D7E7D1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501F-EEC3-459D-AEE0-0740E8FCE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28B01-37BE-4B2D-ACC8-0A81FDE40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125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E2484-70ED-425A-BCEE-75BBE43F6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BB42B-ACA5-41BD-8FA9-DB9B9E23D8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E7A450-5341-4BE3-821E-49E46115D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3D2F4-C560-4AD4-86DD-2C7B17A82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B7BF0-41AC-4308-9CED-4376EAC30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DB180-F869-49CB-9D4D-BC7B3DEE1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177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0D79F-C593-447D-B49B-8CE76D13A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EED66-151D-421C-BE3B-5658F8E0B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3900B-84CD-4079-AB20-F69B6B748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B7FE8E-4029-495B-8767-F533B7214A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B82EB3-2380-42DC-B839-A78E1AEC9B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A981D7-5FF4-4E8F-A0C6-EECB4C69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3A36C2-3AA8-4A16-AFB8-5E20CAD7B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E91E7-63C1-4B11-8259-33D129743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726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5740A-BDAB-4C35-BD60-26ED99830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E92389-FFA1-4791-90B6-33ADA5D50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D4E6EC-EA01-4094-B88F-6540E9132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F47EC-3751-46AE-B454-C09995D8F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225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21A570-0DF4-4A0B-B9AB-1B6DC336E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073E93-1313-4314-BBA9-B18328783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70830-4642-4D3C-94CD-5F63DC9A1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314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9ED98-6103-429A-B254-2419D0B95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E1CE2-5AF7-4CF4-8F83-30C4829CB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96899E-BCD6-4E46-811C-0C603D949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C72B5-2273-48C0-8EB7-20F1A7107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4E18B-65C7-4C78-A3CE-D9BA12155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776B6-72F4-45E3-9FC4-58214D9A9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716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1F0AF-5BA2-4EBB-817E-B9136B4A2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CC6A85-364B-4F83-9D4C-D5EFC45611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49C4D5-F6DF-48E3-9CCB-64A3979A1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56E60-8D94-4E7A-A36C-4F8633992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EAA3E-1289-4AAA-A6FF-AF00B02CD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5B66D-D0F5-4374-B867-23F3F2EB4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794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E5C09-5457-43B9-B264-884881D2D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7798CC-4698-4106-8FDA-DCACE0D8B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67DF3-27EB-440F-AED8-EEC71274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E3C94-5266-4BE2-88A6-B5E8C0044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B1195-C37B-4781-89A1-2DE853399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725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8FBF95-B559-4018-980C-9DC7A57E30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FB8EE0-AA29-479C-80EF-9FBF2D26B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F5B60-13F2-44AF-8E93-793AE49C0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0E93C-1A7B-40B1-94C3-27A6A3823D7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0C94-7681-45A9-A314-218049BB5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FCF10-50B6-497C-9E04-1118BF595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4643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84F568-96BC-46EB-9D43-A8F646EBE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2F078-EDAF-4F52-A929-B2B984E2F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783EE-94ED-458B-9C77-88BCC52F00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0E93C-1A7B-40B1-94C3-27A6A3823D72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66F3F-9A0D-47E0-A4D1-42EDEDFE25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A242D-3DBC-4899-AC1C-49906619E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ED4FD-44AF-4737-AA0D-68A77C9C90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115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8B642-E872-4A6B-85E6-BD01ADE0F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22" y="1509647"/>
            <a:ext cx="10645189" cy="2827175"/>
          </a:xfrm>
        </p:spPr>
        <p:txBody>
          <a:bodyPr>
            <a:noAutofit/>
          </a:bodyPr>
          <a:lstStyle/>
          <a:p>
            <a:pPr fontAlgn="base"/>
            <a:b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  <a:b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Academic Year (2025-26) </a:t>
            </a:r>
            <a:b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22CSE74 : Project Phase-II</a:t>
            </a:r>
            <a:b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24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KrushikaDhara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Cloud-Based Smart Farming 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Platform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IN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/>
            </a:br>
            <a:b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9CDC7B-CFE1-4353-A7A6-61BB4EC589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541" y="4127356"/>
            <a:ext cx="4523968" cy="2384337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1NH23CS029-  ARUN VIRAKTAMATH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1NH23CS080- G. MOHNISH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1NH24CS409- NAVEEN KUMAR KM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1NH23CS060- CHANDRASHEKHAR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0314D2-C144-4A46-8261-B6831FBFA1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268"/>
          <a:stretch/>
        </p:blipFill>
        <p:spPr>
          <a:xfrm>
            <a:off x="1371601" y="38634"/>
            <a:ext cx="9489232" cy="108103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7C71265-A569-1842-9AA9-A6696202FE6C}"/>
              </a:ext>
            </a:extLst>
          </p:cNvPr>
          <p:cNvSpPr txBox="1">
            <a:spLocks/>
          </p:cNvSpPr>
          <p:nvPr/>
        </p:nvSpPr>
        <p:spPr>
          <a:xfrm>
            <a:off x="6944710" y="4304970"/>
            <a:ext cx="5330418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Dr. Raja Meyyan, Prof and HOD, CSE, NHCE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74041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865D5-E228-4BC4-98BA-B1C6045F1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7951"/>
            <a:ext cx="9144000" cy="531487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 OF THE PRESENTATION</a:t>
            </a:r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49B645-3271-4353-8BE5-8405349E8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6471" y="733336"/>
            <a:ext cx="10963275" cy="5956713"/>
          </a:xfrm>
        </p:spPr>
        <p:txBody>
          <a:bodyPr>
            <a:normAutofit fontScale="40000" lnSpcReduction="20000"/>
          </a:bodyPr>
          <a:lstStyle/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6400" b="1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64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6400" b="1" dirty="0">
                <a:latin typeface="Times New Roman" pitchFamily="18" charset="0"/>
                <a:cs typeface="Times New Roman" pitchFamily="18" charset="0"/>
              </a:rPr>
              <a:t>Motivation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6400" b="1" dirty="0"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6400" b="1" dirty="0">
                <a:latin typeface="Times New Roman" pitchFamily="18" charset="0"/>
                <a:cs typeface="Times New Roman" pitchFamily="18" charset="0"/>
              </a:rPr>
              <a:t>Social Relevance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6400" b="1" dirty="0">
                <a:latin typeface="Times New Roman" pitchFamily="18" charset="0"/>
                <a:cs typeface="Times New Roman" pitchFamily="18" charset="0"/>
              </a:rPr>
              <a:t>Literature Review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6400" b="1" dirty="0">
                <a:latin typeface="Times New Roman" pitchFamily="18" charset="0"/>
                <a:cs typeface="Times New Roman" pitchFamily="18" charset="0"/>
              </a:rPr>
              <a:t>Scope of the project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6400" b="1" dirty="0">
                <a:latin typeface="Times New Roman" pitchFamily="18" charset="0"/>
                <a:cs typeface="Times New Roman" pitchFamily="18" charset="0"/>
              </a:rPr>
              <a:t>Proposed System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6400" b="1" dirty="0">
                <a:latin typeface="Times New Roman" pitchFamily="18" charset="0"/>
                <a:cs typeface="Times New Roman" pitchFamily="18" charset="0"/>
              </a:rPr>
              <a:t>Design and Methodology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6400" b="1">
                <a:latin typeface="Times New Roman" pitchFamily="18" charset="0"/>
                <a:cs typeface="Times New Roman" pitchFamily="18" charset="0"/>
              </a:rPr>
              <a:t>Results </a:t>
            </a:r>
            <a:r>
              <a:rPr lang="en-US" sz="6400" b="1" dirty="0">
                <a:latin typeface="Times New Roman" pitchFamily="18" charset="0"/>
                <a:cs typeface="Times New Roman" pitchFamily="18" charset="0"/>
              </a:rPr>
              <a:t>(40% output)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6400" b="1" dirty="0">
                <a:latin typeface="Times New Roman" pitchFamily="18" charset="0"/>
                <a:cs typeface="Times New Roman" pitchFamily="18" charset="0"/>
              </a:rPr>
              <a:t>Plan for Completion of Project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6400" b="1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6400" b="1" dirty="0">
                <a:latin typeface="Times New Roman" pitchFamily="18" charset="0"/>
                <a:cs typeface="Times New Roman" pitchFamily="18" charset="0"/>
              </a:rPr>
              <a:t>Discussion on Paper Publication</a:t>
            </a:r>
          </a:p>
        </p:txBody>
      </p:sp>
    </p:spTree>
    <p:extLst>
      <p:ext uri="{BB962C8B-B14F-4D97-AF65-F5344CB8AC3E}">
        <p14:creationId xmlns:p14="http://schemas.microsoft.com/office/powerpoint/2010/main" val="2620063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42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046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Smallholder farmers in Karnataka lose crop value to pests, price information asymmetry, low welfare-scheme awareness, and the high upfront cost of farm machinery.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digital agriculture tools solve these problems in isolation, need continuous connectivity, and lack vernacular support.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KrushikaDhara is a Flutter-based, Java/Spring-Boot-backed platform that unifies nine tightly coupled modules under one offline-first architecture for Karnataka farmers.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INT8-quantised on-device model performs leaf-level pest detection and treatment recommendation with zero server dependency.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cloud-assisted drone pipeline fuses aerial imagery with Sentinel-2 indices for canopy health and per-acre yield; a P2P rental marketplace uses Bluetooth mesh + geohash discovery for equipment access.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Validated in a six-week, 42-farmer field pilot — results in Section VI — entirely on free-tier infrastructure.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A9A644E-348C-09E6-D54D-7B7E7DE2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22CSE74 - PROJECT PHASE – II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42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046" y="1690688"/>
            <a:ext cx="10515600" cy="4351338"/>
          </a:xfrm>
        </p:spPr>
        <p:txBody>
          <a:bodyPr>
            <a:normAutofit/>
          </a:bodyPr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Agriculture sustains 5M+ farming households across Karnataka's diverse agro-climatic zones — Ragi/Groundnut (Maidan), Coffee/Arecanut (Malnad), Onion/Pomegranate (Dharwad/Bijapur).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tool built around any single crop context rarely transfers cleanly to another — a recurring obstacle to one product serving the whole state.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Commercial platforms (Kisan Suvidha, AgroStar, DeHaat) each solve fragments: English-first, connectivity-dependent, not tuned to Karnataka-specific diseases, or thin coverage in the south.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KrushikaDhara closes this integration gap rather than adding a tenth isolated app to a farmer's phone.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entirely on open-source components and free-tier government + cloud APIs — zero recurring infrastructure cost.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A9A644E-348C-09E6-D54D-7B7E7DE2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22CSE74 - PROJECT PHASE – II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42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046" y="1690688"/>
            <a:ext cx="10515600" cy="4351338"/>
          </a:xfrm>
        </p:spPr>
        <p:txBody>
          <a:bodyPr>
            <a:normAutofit/>
          </a:bodyPr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Pest &amp; Disease Loss: most Karnataka farmers act only after visible crop damage appears, rather than intervening pre-emptively.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Broken Price Discovery: a Kolar tomato grower sells at ₹8–10/kg while the same produce fetches ₹12–14/kg 70 km away at Yeshwanthpur APMC — a 20–30% loss.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Scheme Awareness: eligible farmers rarely know of welfare schemes because information sits in dense English/Hindi PDFs, not a queryable form.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Inaccessible Machinery: smallholders can't justify owning a tractor/tiller/sprayer for a 2-acre plot; rental markets stay informal and word-of-mouth.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A9A644E-348C-09E6-D54D-7B7E7DE2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22CSE74 - PROJECT PHASE – II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42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046" y="1690688"/>
            <a:ext cx="10515600" cy="4351338"/>
          </a:xfrm>
        </p:spPr>
        <p:txBody>
          <a:bodyPr>
            <a:normAutofit/>
          </a:bodyPr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 fully offline, on-device pest/disease detection with actionable chemical or organic treatment guidance.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Estimate per-acre yield and map pest hotspots by fusing drone imagery with Sentinel-2 vegetation indices.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a peer-to-peer equipment rental marketplace using geohash discovery with a Bluetooth-mesh offline fallback.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hallucination-free scheme and loan advisory via a Retrieval-Augmented Generation pipeline grounded in official documents.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 live Mandi price alerts and hyper-local pest-weather risk warnings.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Offer a fully Kannada voice interface so literacy is not a barrier to any module.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A9A644E-348C-09E6-D54D-7B7E7DE2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22CSE74 - PROJECT PHASE – II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42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046" y="1690688"/>
            <a:ext cx="10515600" cy="4351338"/>
          </a:xfrm>
        </p:spPr>
        <p:txBody>
          <a:bodyPr>
            <a:normAutofit lnSpcReduction="10000"/>
          </a:bodyPr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Directly targets 5M+ smallholder farming households in Karnataka, many with limited literacy and intermittent connectivity.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Vernacular (Kannada) voice access removes literacy as a barrier to diagnosis, prices, schemes and equipment search.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Zero-cost architecture makes the platform replicable by agricultural universities and NGOs without subscription overhead.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Scheme-RAG module can be deployed as an assisted-digital kiosk inside Raitha Samparka Kendras (RSKs), standardising advisory delivery.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Aggregate disease and yield logs can support DCCB / crop-insurance claim verification and state custom-hiring-centre planning.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A9A644E-348C-09E6-D54D-7B7E7DE2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22CSE74 - PROJECT PHASE – II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42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046" y="1690688"/>
            <a:ext cx="10515600" cy="4351338"/>
          </a:xfrm>
        </p:spPr>
        <p:txBody>
          <a:bodyPr>
            <a:normAutofit lnSpcReduction="10000"/>
          </a:bodyPr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Mohanty et al. [1]: lab-trained CNN reached 99.35% accuracy on PlantVillage images but dropped to ~31% on real phone photos — no field robustness.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Ferentinos [2]: 99.53% accuracy across 58 crop-disease pairs, but requires uploading every image to a server — not offline.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Akhil et al. [3]: drone-based pest classification for paddy only — single crop, no treatment or yield output.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Geethajali et al. [4]: AI chatbot for yield/crop selection — no offline mode, no vernacular voice.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Rathi et al. [5]: disease detection + price forecasting — no equipment access, no scheme or voice layer.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Patil et al. [6]: web-based equipment rental — no GPS-proximity matching, no offline/mesh fallback.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Gap: no published or commercial system combines offline disease detection, drone yield estimation and vernacular voice in one validated platform.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A9A644E-348C-09E6-D54D-7B7E7DE2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22CSE74 - PROJECT PHASE – II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42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046" y="1690688"/>
            <a:ext cx="10515600" cy="4351338"/>
          </a:xfrm>
        </p:spPr>
        <p:txBody>
          <a:bodyPr>
            <a:normAutofit/>
          </a:bodyPr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Nine loosely-coupled modules covering diagnosis, drone yield analytics, equipment rental, market prices, crop calendar, scheme RAG, pest-weather alerts, loan advisory and voice access.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Targets Karnataka's ten agro-climatic zones; architecture is language- and region-agnostic and can extend to other states with new Bhashini language packs and scheme documents.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Flutter 3.19 client (Android API 24+ / iOS 14+) with a Java 21 / Spring Boot 3.2 backend on Oracle Cloud's Always-Free ARM tier.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of scope for this version: in-app escrow payments, IoT soil-sensor ingestion and autonomous drone scheduling — identified as future work.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A9A644E-348C-09E6-D54D-7B7E7DE2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22CSE74 - PROJECT PHASE – II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42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046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Disease &amp; Pest Detection – TFLite + YOLOv8 (INT8 Quantised) – Offline.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Drone Yield &amp; Health Analysis – Backend CNN + Regression Head + Sentinel-2 NDVI – Online, cached.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Equipment Rental Marketplace – Firebase Realtime DB (Geohash) + Bluetooth Mesh – Hybrid.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Mandi Price Alert – Agmarknet API + FCM – Online.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 Calendar – Open-Meteo + Groq Llama 3 – Online.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Scheme RAG – ChromaDB + Llama 3 (LangChain4J) – Online.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Pest-Weather Engine – Open-Meteo + Sentinel-2 NDVI – Online.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Loan Advisory – RAG over DCC Bank / NABARD PDFs – Online.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Pipeline – Bhashini ASR + NMT + TTS – Online.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A9A644E-348C-09E6-D54D-7B7E7DE2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22CSE74 - PROJECT PHASE – II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42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693" y="1568417"/>
            <a:ext cx="10515600" cy="4351338"/>
          </a:xfrm>
        </p:spPr>
        <p:txBody>
          <a:bodyPr>
            <a:normAutofit/>
          </a:bodyPr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Inference: capture → resize to 416×416 → normalise → quantised YOLOv8 TFLite interpreter → confidence gate at 0.5 → disease label + treatment fetched from on-device store. Median latency 178.4 ms, no network call.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Client: Flutter 3.19, Android API 24+ / iOS 14+, tflite_flutter, camera, geolocator, flutter_nearby_connections; EN/KN via intl.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Backend: Spring Boot 3.2 on Java 21 – @Scheduled Agmarknet ingestion, non-blocking WebClient to Open-Meteo/Groq/Bhashini, Apache Tika 2.9 for PDF ingestion.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 Store &amp; Drone Model: ChromaDB 0.5.3, 847 chunks, all-MiniLM-L6-v2 (384-dim), &lt;40 ms cosine search; feed-forward yield-regression head, retrained quarterly.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6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services run on one Oracle Cloud Always-Free ARM instance (2 OCPU / 12 GB RAM), serving ~200 concurrent pilot farmers.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A9A644E-348C-09E6-D54D-7B7E7DE2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22CSE74 - PROJECT PHASE – II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1E33A6-991A-9006-265D-051C845EF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4945" y="228600"/>
            <a:ext cx="11313642" cy="6463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197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DC1472-2874-F7BD-381C-271E510D44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4879" y="275896"/>
            <a:ext cx="9262241" cy="630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923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42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(40% Output)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046" y="1690688"/>
            <a:ext cx="10515600" cy="4351338"/>
          </a:xfrm>
        </p:spPr>
        <p:txBody>
          <a:bodyPr>
            <a:normAutofit/>
          </a:bodyPr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be added:</a:t>
            </a:r>
          </a:p>
          <a:p>
            <a:pPr marL="685800" indent="-228600">
              <a:lnSpc>
                <a:spcPct val="115000"/>
              </a:lnSpc>
              <a:spcAft>
                <a:spcPts val="900"/>
              </a:spcAft>
              <a:buFont typeface="Arial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Field pilot overview (42 farmers, 31 drone flights, 96 equipment listings)</a:t>
            </a:r>
          </a:p>
          <a:p>
            <a:pPr marL="685800" indent="-228600">
              <a:lnSpc>
                <a:spcPct val="115000"/>
              </a:lnSpc>
              <a:spcAft>
                <a:spcPts val="900"/>
              </a:spcAft>
              <a:buFont typeface="Arial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Disease detection performance – Table III</a:t>
            </a:r>
          </a:p>
          <a:p>
            <a:pPr marL="685800" indent="-228600">
              <a:lnSpc>
                <a:spcPct val="115000"/>
              </a:lnSpc>
              <a:spcAft>
                <a:spcPts val="900"/>
              </a:spcAft>
              <a:buFont typeface="Arial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Drone-based yield &amp; hotspot accuracy – Table IV</a:t>
            </a:r>
          </a:p>
          <a:p>
            <a:pPr marL="685800" indent="-228600">
              <a:lnSpc>
                <a:spcPct val="115000"/>
              </a:lnSpc>
              <a:spcAft>
                <a:spcPts val="900"/>
              </a:spcAft>
              <a:buFont typeface="Arial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Scheme RAG retrieval evaluation – Table V</a:t>
            </a:r>
          </a:p>
          <a:p>
            <a:pPr marL="685800" indent="-228600">
              <a:lnSpc>
                <a:spcPct val="115000"/>
              </a:lnSpc>
              <a:spcAft>
                <a:spcPts val="900"/>
              </a:spcAft>
              <a:buFont typeface="Arial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/ cost breakdown – Table II</a:t>
            </a:r>
          </a:p>
          <a:p>
            <a:pPr marL="685800" indent="-228600">
              <a:lnSpc>
                <a:spcPct val="115000"/>
              </a:lnSpc>
              <a:spcAft>
                <a:spcPts val="900"/>
              </a:spcAft>
              <a:buFont typeface="Arial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with existing platforms – Table VI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A9A644E-348C-09E6-D54D-7B7E7DE2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22CSE74 - PROJECT PHASE – II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42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 for Completion of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046" y="1690688"/>
            <a:ext cx="10515600" cy="4351338"/>
          </a:xfrm>
        </p:spPr>
        <p:txBody>
          <a:bodyPr>
            <a:normAutofit/>
          </a:bodyPr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Learning: aggregate on-device farmer accept/reject signals without sending raw images to a central server, for continuous model improvement.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Soil-Sensor Integration: ingest Bluetooth NPK/pH/moisture sensor data into the crop calendar for plot-specific advice.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 Drone Scheduling: auto-queue a drone sweep on a high-risk pest-weather convergence.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Escrow &amp; In-App Payments: opt-in payment/deposit-escrow layer for equipment rental.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Cross-Regional Scale-Up: extend beyond Karnataka to Maharashtra / Tamil Nadu with new Bhashini language packs and state scheme documents.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A9A644E-348C-09E6-D54D-7B7E7DE2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22CSE74 - PROJECT PHASE – II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42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046" y="1690688"/>
            <a:ext cx="10515600" cy="4351338"/>
          </a:xfrm>
        </p:spPr>
        <p:txBody>
          <a:bodyPr>
            <a:normAutofit/>
          </a:bodyPr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 S. P. Mohanty, D. P. Hughes, M. Salathé, “Using deep learning for image-based plant disease detection,” Frontiers in Plant Science, vol. 7, p. 1419, 2016.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 K. P. Ferentinos, “Deep learning models for plant disease detection and diagnosis,” Computers and Electronics in Agriculture, vol. 145, pp. 311–318, 2018.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 P. Akhil, P. D. Kumar, L. P. S, “Automated Pest Classification of Paddy Field using Drone Imagery,” ICOEI 2025, Tirunelveli, India, pp. 756–761.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 T. M. Geethajali et al., “Agroinsights Chatbot: AI-Driven Precision Farming,” IEEE NKCon 2024, Bagalkote, India, pp. 1–8.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 S. Rathi et al., “AI Farm Decision Support Suite,” ICSSIT 2026, Warangal, India, pp. 1296–1302.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 A. S. Patil et al., “Revolutionizing Farming with Innovative Equipment Rental System,” ICECAA 2023, Namakkal, India, pp. 1641–1646.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A9A644E-348C-09E6-D54D-7B7E7DE2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22CSE74 - PROJECT PHASE – II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564" y="24285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on Paper Publication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046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“KrushikaDhara: An Offline-First, Vernacular Agricultural Intelligence Platform for Smallholder Farmers.”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Authors: Dr. Raja Meyyan, Arun Viraktamath, P Chandrashekhar, G. Mohnish, Naveen Kumar KM — Dept. of CSE, NHCE (VTU).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Manuscript formatted per IEEE conference template and marked publish-ready, with full field-pilot results and comparative evaluation against four closely related recent studies.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 Terms: Edge AI, Peer-to-Peer Networks, Precision Agriculture, Retrieval-Augmented Generation (RAG), Unmanned Aerial Vehicles (UAV).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framed as integration, not a single novel model — no prior system combines offline disease detection, drone-based yield forecasting, and equipment sharing in one Kannada-first platform.</a:t>
            </a:r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Font typeface="Arial"/>
              <a:buChar char="•"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venue: an IEEE-sponsored conference in precision agriculture / edge-AI systems; submission planned following Phase-II review feedback.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A9A644E-348C-09E6-D54D-7B7E7DE2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22CSE74 - PROJECT PHASE – II</a:t>
            </a:r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w To Write A Thank You Note In Five ...">
            <a:extLst>
              <a:ext uri="{FF2B5EF4-FFF2-40B4-BE49-F238E27FC236}">
                <a16:creationId xmlns:a16="http://schemas.microsoft.com/office/drawing/2014/main" id="{E21CCE56-C477-6DBB-DF81-513659383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266" y="482860"/>
            <a:ext cx="10864652" cy="6104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1820</Words>
  <Application>Microsoft Office PowerPoint</Application>
  <PresentationFormat>Widescreen</PresentationFormat>
  <Paragraphs>123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Wingdings</vt:lpstr>
      <vt:lpstr>Office Theme</vt:lpstr>
      <vt:lpstr>             Department of Computer Science and Engineering                                       Academic Year (2025-26)                                         22CSE74 : Project Phase-II                   KrushikaDhara: Cloud-Based Smart Farming  Decision Platform      </vt:lpstr>
      <vt:lpstr>OUTLINE OF THE PRESENTATION</vt:lpstr>
      <vt:lpstr>Abstract</vt:lpstr>
      <vt:lpstr>Introduction</vt:lpstr>
      <vt:lpstr>Motivation</vt:lpstr>
      <vt:lpstr>Objectives</vt:lpstr>
      <vt:lpstr>Social Relevance</vt:lpstr>
      <vt:lpstr>Literature Review</vt:lpstr>
      <vt:lpstr>Scope of the Project</vt:lpstr>
      <vt:lpstr>Proposed System</vt:lpstr>
      <vt:lpstr>Design and Methodology</vt:lpstr>
      <vt:lpstr>PowerPoint Presentation</vt:lpstr>
      <vt:lpstr>PowerPoint Presentation</vt:lpstr>
      <vt:lpstr>Results (40% Output)</vt:lpstr>
      <vt:lpstr>Plan for Completion of Project</vt:lpstr>
      <vt:lpstr>References</vt:lpstr>
      <vt:lpstr>Discussion on Paper Publication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HELMET</dc:title>
  <dc:creator>Deepti Rai</dc:creator>
  <cp:lastModifiedBy>Arun Viraktamath</cp:lastModifiedBy>
  <cp:revision>44</cp:revision>
  <dcterms:created xsi:type="dcterms:W3CDTF">2020-10-20T04:21:28Z</dcterms:created>
  <dcterms:modified xsi:type="dcterms:W3CDTF">2026-09-25T16:54:19Z</dcterms:modified>
</cp:coreProperties>
</file>