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8" r:id="rId4"/>
    <p:sldId id="269" r:id="rId5"/>
    <p:sldId id="260" r:id="rId6"/>
    <p:sldId id="271" r:id="rId7"/>
    <p:sldId id="272" r:id="rId8"/>
    <p:sldId id="273" r:id="rId9"/>
    <p:sldId id="274" r:id="rId10"/>
    <p:sldId id="27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6CFC7-99A4-4BC9-8C31-203D132A53AE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D76A40-C3F8-42CF-8BDD-E280192E7B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0692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E828D-C31A-47DD-A684-C536A92AB432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22CSE65 - PROJECT PHASE - 1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D99C-BC24-4F96-A2DD-DD80F6BF3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306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D415B-1693-4DEC-B80E-F91456462E59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22CSE65 - PROJECT PHASE - 1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D99C-BC24-4F96-A2DD-DD80F6BF3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470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3F54D-4173-48E8-8189-3EA0CEB791D8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22CSE65 - PROJECT PHASE - 1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D99C-BC24-4F96-A2DD-DD80F6BF3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58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FB4BE-232E-4A20-B325-8C9AFA9E0E7B}" type="datetime1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22CSE65 - PROJECT PHASE - 1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D99C-BC24-4F96-A2DD-DD80F6BF3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123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6FF53-7202-4A21-8B37-78C8A570D992}" type="datetime1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22CSE65 - PROJECT PHASE - 1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D99C-BC24-4F96-A2DD-DD80F6BF3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868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CDA4E-41BD-4A6E-8D7A-7EFCE92B288E}" type="datetime1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22CSE65 - PROJECT PHASE - 1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D99C-BC24-4F96-A2DD-DD80F6BF3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525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85752-5B1D-459F-8B85-2B8C21AA938C}" type="datetime1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22CSE65 - PROJECT PHASE - 1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D99C-BC24-4F96-A2DD-DD80F6BF3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183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EB0F1-EBB6-4E40-B781-09E28BD16BA6}" type="datetime1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22CSE65 - PROJECT PHASE - 1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D99C-BC24-4F96-A2DD-DD80F6BF3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609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B9BE5-6583-4DFB-9B3B-E1B3CB8A7187}" type="datetime1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22CSE65 - PROJECT PHASE - 1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D99C-BC24-4F96-A2DD-DD80F6BF3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936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313F9-336C-4335-8C66-787064F83229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22CSE65 - PROJECT PHASE - 1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D99C-BC24-4F96-A2DD-DD80F6BF3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942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652AD-101E-4C34-8124-5CCDDBB2F829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22CSE65 - PROJECT PHASE - 1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D99C-BC24-4F96-A2DD-DD80F6BF3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66899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2682DC-123F-44EB-BAA0-3C5FD25614AC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22CSE65 - PROJECT PHASE - 1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8DD99C-BC24-4F96-A2DD-DD80F6BF3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49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723331" y="4038767"/>
            <a:ext cx="4094328" cy="1655762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buNone/>
            </a:pPr>
            <a:r>
              <a:rPr sz="1400">
                <a:latin typeface="Calibri"/>
              </a:rPr>
              <a:t>Under the Guidance of
</a:t>
            </a:r>
            <a:r>
              <a:rPr sz="1600" b="1">
                <a:latin typeface="Calibri"/>
              </a:rPr>
              <a:t>Prof. [Guide Name]
</a:t>
            </a:r>
            <a:r>
              <a:rPr sz="1400">
                <a:latin typeface="Calibri"/>
              </a:rPr>
              <a:t>Dept. of CSE, NHCE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047165" y="1866379"/>
            <a:ext cx="8755038" cy="1354493"/>
          </a:xfrm>
        </p:spPr>
        <p:txBody>
          <a:bodyPr/>
          <a:lstStyle/>
          <a:p>
            <a:pPr algn="ctr"/>
            <a:r>
              <a:rPr sz="2800" b="1">
                <a:solidFill>
                  <a:srgbClr val="1A5C2E"/>
                </a:solidFill>
                <a:latin typeface="Calibri"/>
              </a:rPr>
              <a:t>KrushikaDhara
</a:t>
            </a:r>
            <a:r>
              <a:rPr sz="1600" i="1">
                <a:latin typeface="Calibri"/>
              </a:rPr>
              <a:t>An AI-Driven Smart Agriculture Advisory System for
Precision Crop Management and Yield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41924" y="4035065"/>
            <a:ext cx="4558352" cy="121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70000"/>
              </a:lnSpc>
              <a:spcBef>
                <a:spcPts val="1000"/>
              </a:spcBef>
            </a:pPr>
            <a:r>
              <a:rPr sz="1400">
                <a:latin typeface="Calibri"/>
              </a:rPr>
              <a:t>Presented By
</a:t>
            </a:r>
            <a:r>
              <a:rPr sz="1600" b="1">
                <a:latin typeface="Calibri"/>
              </a:rPr>
              <a:t>Naveen Kumar KM          1NH24CS409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567" y="169179"/>
            <a:ext cx="9453093" cy="883007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5A6FAD1-C6C9-3B8A-1FFE-1A422F4BF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22CSE65 - PROJECT PHASE - 1</a:t>
            </a:r>
          </a:p>
        </p:txBody>
      </p:sp>
    </p:spTree>
    <p:extLst>
      <p:ext uri="{BB962C8B-B14F-4D97-AF65-F5344CB8AC3E}">
        <p14:creationId xmlns:p14="http://schemas.microsoft.com/office/powerpoint/2010/main" val="759360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555037"/>
            <a:ext cx="10596418" cy="4624089"/>
          </a:xfrm>
        </p:spPr>
        <p:txBody>
          <a:bodyPr>
            <a:normAutofit fontScale="85000" lnSpcReduction="20000"/>
          </a:bodyPr>
          <a:lstStyle/>
          <a:p>
            <a:pPr lvl="1"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 and objectives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lvl="1">
              <a:lnSpc>
                <a:spcPct val="150000"/>
              </a:lnSpc>
            </a:pPr>
            <a:r>
              <a:rPr lang="en-US" sz="25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lvl="1">
              <a:lnSpc>
                <a:spcPct val="150000"/>
              </a:lnSpc>
            </a:pPr>
            <a:r>
              <a:rPr lang="en-US" sz="25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Analysis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 Specification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Functional/Nonfunctional requirements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and data collection methods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Enhancements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79" y="7937"/>
            <a:ext cx="918575" cy="897699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6B5CF-30AF-7D5C-8B82-8A478BD9A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/>
              <a:t>22CSE65 - PROJECT PHASE - 1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26536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400" indent="0">
              <a:lnSpc>
                <a:spcPct val="150000"/>
              </a:lnSpc>
              <a:spcAft>
                <a:spcPts val="400"/>
              </a:spcAft>
              <a:buNone/>
            </a:pPr>
            <a:r>
              <a:rPr sz="1300">
                <a:latin typeface="Calibri"/>
              </a:rPr>
              <a:t>Agriculture is the backbone of India's economy — 58% of the population depends on farming.</a:t>
            </a:r>
          </a:p>
          <a:p>
            <a:pPr>
              <a:spcAft>
                <a:spcPts val="400"/>
              </a:spcAft>
            </a:pPr>
            <a:r>
              <a:rPr sz="1300">
                <a:latin typeface="Calibri"/>
              </a:rPr>
              <a:t>Farmers face challenges: erratic weather, pest infestations, depleting soil health, lack of advisory services.</a:t>
            </a:r>
          </a:p>
          <a:p>
            <a:pPr>
              <a:spcAft>
                <a:spcPts val="400"/>
              </a:spcAft>
            </a:pPr>
            <a:r>
              <a:rPr sz="1300">
                <a:latin typeface="Calibri"/>
              </a:rPr>
              <a:t>86% of farmers are small/marginal with limited access to modern technology.</a:t>
            </a:r>
          </a:p>
          <a:p>
            <a:pPr>
              <a:spcAft>
                <a:spcPts val="400"/>
              </a:spcAft>
            </a:pPr>
            <a:r>
              <a:rPr sz="1300">
                <a:latin typeface="Calibri"/>
              </a:rPr>
              <a:t>KrushikaDhara (Sanskrit: "Stream of Knowledge to the Farmer") addresses this gap.</a:t>
            </a:r>
          </a:p>
          <a:p>
            <a:pPr>
              <a:spcAft>
                <a:spcPts val="400"/>
              </a:spcAft>
            </a:pPr>
            <a:r>
              <a:rPr sz="1300">
                <a:latin typeface="Calibri"/>
              </a:rPr>
              <a:t>It is an AI-driven, mobile-first, multilingual smart agriculture advisory system.</a:t>
            </a:r>
          </a:p>
          <a:p>
            <a:pPr>
              <a:spcAft>
                <a:spcPts val="400"/>
              </a:spcAft>
            </a:pPr>
            <a:r>
              <a:rPr sz="1300">
                <a:latin typeface="Calibri"/>
              </a:rPr>
              <a:t>Provides three core services: Crop Recommendation, Disease Detection, and Yield Prediction.</a:t>
            </a:r>
          </a:p>
          <a:p>
            <a:pPr>
              <a:spcAft>
                <a:spcPts val="400"/>
              </a:spcAft>
            </a:pPr>
            <a:r>
              <a:rPr sz="1300">
                <a:latin typeface="Calibri"/>
              </a:rPr>
              <a:t>Built using Python, Flask, TensorFlow, Flutter, and Firebase for scalable cloud deployment.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79" y="7937"/>
            <a:ext cx="918575" cy="897699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F85BA7-2A43-C886-065F-191A814E7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/>
              <a:t>22CSE65 - PROJECT PHASE - 1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40642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400" indent="0">
              <a:lnSpc>
                <a:spcPct val="150000"/>
              </a:lnSpc>
              <a:spcAft>
                <a:spcPts val="400"/>
              </a:spcAft>
              <a:buNone/>
            </a:pPr>
            <a:r>
              <a:rPr sz="1300">
                <a:latin typeface="Calibri"/>
              </a:rPr>
              <a:t>To develop an AI-based crop recommendation engine using soil and climate data (Random Forest, 94.2% accuracy).</a:t>
            </a:r>
          </a:p>
          <a:p>
            <a:pPr>
              <a:spcAft>
                <a:spcPts val="400"/>
              </a:spcAft>
            </a:pPr>
            <a:r>
              <a:rPr sz="1300">
                <a:latin typeface="Calibri"/>
              </a:rPr>
              <a:t>To implement real-time plant disease detection from leaf images using CNN (MobileNetV2, 96.1% accuracy).</a:t>
            </a:r>
          </a:p>
          <a:p>
            <a:pPr>
              <a:spcAft>
                <a:spcPts val="400"/>
              </a:spcAft>
            </a:pPr>
            <a:r>
              <a:rPr sz="1300">
                <a:latin typeface="Calibri"/>
              </a:rPr>
              <a:t>To build a yield prediction module using historical agricultural data (XGBoost, R²=0.89).</a:t>
            </a:r>
          </a:p>
          <a:p>
            <a:pPr>
              <a:spcAft>
                <a:spcPts val="400"/>
              </a:spcAft>
            </a:pPr>
            <a:r>
              <a:rPr sz="1300">
                <a:latin typeface="Calibri"/>
              </a:rPr>
              <a:t>To integrate all three modules into a single, unified mobile-first platform.</a:t>
            </a:r>
          </a:p>
          <a:p>
            <a:pPr>
              <a:spcAft>
                <a:spcPts val="400"/>
              </a:spcAft>
            </a:pPr>
            <a:r>
              <a:rPr sz="1300">
                <a:latin typeface="Calibri"/>
              </a:rPr>
              <a:t>To provide multilingual support (Hindi, Kannada, Telugu, English) and voice assistance for semi-literate farmers.</a:t>
            </a:r>
          </a:p>
          <a:p>
            <a:pPr>
              <a:spcAft>
                <a:spcPts val="400"/>
              </a:spcAft>
            </a:pPr>
            <a:r>
              <a:rPr sz="1300">
                <a:latin typeface="Calibri"/>
              </a:rPr>
              <a:t>To enable offline disease detection using a lightweight TFLite model (8.7 MB, 320ms inference).</a:t>
            </a:r>
          </a:p>
          <a:p>
            <a:pPr>
              <a:spcAft>
                <a:spcPts val="400"/>
              </a:spcAft>
            </a:pPr>
            <a:r>
              <a:rPr sz="1300">
                <a:latin typeface="Calibri"/>
              </a:rPr>
              <a:t>To deploy on cloud (Flask + Firebase) for scalable, low-latency access across India.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F85BA7-2A43-C886-065F-191A814E7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/>
              <a:t>22CSE65 - PROJECT PHASE - 1</a:t>
            </a:r>
            <a:endParaRPr lang="en-US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79" y="7937"/>
            <a:ext cx="918575" cy="897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092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046" y="-8128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C388A788-2813-5AAC-8627-B7B474BBB0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5914242"/>
              </p:ext>
            </p:extLst>
          </p:nvPr>
        </p:nvGraphicFramePr>
        <p:xfrm>
          <a:off x="579121" y="1034945"/>
          <a:ext cx="11247118" cy="511539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05451">
                  <a:extLst>
                    <a:ext uri="{9D8B030D-6E8A-4147-A177-3AD203B41FA5}">
                      <a16:colId xmlns:a16="http://schemas.microsoft.com/office/drawing/2014/main" val="2960684816"/>
                    </a:ext>
                  </a:extLst>
                </a:gridCol>
                <a:gridCol w="1406426">
                  <a:extLst>
                    <a:ext uri="{9D8B030D-6E8A-4147-A177-3AD203B41FA5}">
                      <a16:colId xmlns:a16="http://schemas.microsoft.com/office/drawing/2014/main" val="1605997018"/>
                    </a:ext>
                  </a:extLst>
                </a:gridCol>
                <a:gridCol w="1956210">
                  <a:extLst>
                    <a:ext uri="{9D8B030D-6E8A-4147-A177-3AD203B41FA5}">
                      <a16:colId xmlns:a16="http://schemas.microsoft.com/office/drawing/2014/main" val="3270916264"/>
                    </a:ext>
                  </a:extLst>
                </a:gridCol>
                <a:gridCol w="1544758">
                  <a:extLst>
                    <a:ext uri="{9D8B030D-6E8A-4147-A177-3AD203B41FA5}">
                      <a16:colId xmlns:a16="http://schemas.microsoft.com/office/drawing/2014/main" val="2272164530"/>
                    </a:ext>
                  </a:extLst>
                </a:gridCol>
                <a:gridCol w="1544758">
                  <a:extLst>
                    <a:ext uri="{9D8B030D-6E8A-4147-A177-3AD203B41FA5}">
                      <a16:colId xmlns:a16="http://schemas.microsoft.com/office/drawing/2014/main" val="3270164671"/>
                    </a:ext>
                  </a:extLst>
                </a:gridCol>
                <a:gridCol w="1393861">
                  <a:extLst>
                    <a:ext uri="{9D8B030D-6E8A-4147-A177-3AD203B41FA5}">
                      <a16:colId xmlns:a16="http://schemas.microsoft.com/office/drawing/2014/main" val="335484135"/>
                    </a:ext>
                  </a:extLst>
                </a:gridCol>
                <a:gridCol w="1695654">
                  <a:extLst>
                    <a:ext uri="{9D8B030D-6E8A-4147-A177-3AD203B41FA5}">
                      <a16:colId xmlns:a16="http://schemas.microsoft.com/office/drawing/2014/main" val="3531596186"/>
                    </a:ext>
                  </a:extLst>
                </a:gridCol>
              </a:tblGrid>
              <a:tr h="589463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of publication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Name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Identified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912486"/>
                  </a:ext>
                </a:extLst>
              </a:tr>
              <a:tr h="1094716">
                <a:tc>
                  <a:txBody>
                    <a:bodyPr/>
                    <a:lstStyle/>
                    <a:p>
                      <a:r>
                        <a:rPr sz="800">
                          <a:latin typeface="Calibri"/>
                        </a:rPr>
                        <a:t>Crop recommendation
system for precision
agriculture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Calibri"/>
                        </a:rPr>
                        <a:t>Pudumalar
et al.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Calibri"/>
                        </a:rPr>
                        <a:t>2017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Calibri"/>
                        </a:rPr>
                        <a:t>IEEE ICoAC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Calibri"/>
                        </a:rPr>
                        <a:t>Ensemble
Learning
(N,P,K,pH)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Calibri"/>
                        </a:rPr>
                        <a:t>89% accuracy
on crop data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Calibri"/>
                        </a:rPr>
                        <a:t>No disease detection
or yield prediction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672727"/>
                  </a:ext>
                </a:extLst>
              </a:tr>
              <a:tr h="926298">
                <a:tc>
                  <a:txBody>
                    <a:bodyPr/>
                    <a:lstStyle/>
                    <a:p>
                      <a:r>
                        <a:rPr sz="800">
                          <a:latin typeface="Calibri"/>
                        </a:rPr>
                        <a:t>Using deep learning for
image-based plant
disease detection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Calibri"/>
                        </a:rPr>
                        <a:t>Mohanty
et al.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Calibri"/>
                        </a:rPr>
                        <a:t>2016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Calibri"/>
                        </a:rPr>
                        <a:t>Frontiers in
Plant Science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Calibri"/>
                        </a:rPr>
                        <a:t>CNN on
PlantVillage
dataset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Calibri"/>
                        </a:rPr>
                        <a:t>99.35% accuracy
in lab conditions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Calibri"/>
                        </a:rPr>
                        <a:t>Low accuracy in
real-world field
conditions (~80%)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638291"/>
                  </a:ext>
                </a:extLst>
              </a:tr>
              <a:tr h="1191167">
                <a:tc>
                  <a:txBody>
                    <a:bodyPr/>
                    <a:lstStyle/>
                    <a:p>
                      <a:r>
                        <a:rPr sz="800">
                          <a:latin typeface="Calibri"/>
                        </a:rPr>
                        <a:t>Crop yield prediction
using deep neural
networks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Calibri"/>
                        </a:rPr>
                        <a:t>Khaki &amp;
Wang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Calibri"/>
                        </a:rPr>
                        <a:t>2019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Calibri"/>
                        </a:rPr>
                        <a:t>Frontiers in
Plant Science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Calibri"/>
                        </a:rPr>
                        <a:t>Deep Neural
Networks on
US Corn Belt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Calibri"/>
                        </a:rPr>
                        <a:t>Competitive R²
for corn yield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Calibri"/>
                        </a:rPr>
                        <a:t>US-specific, no
mobile deployment,
single-crop focus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502027"/>
                  </a:ext>
                </a:extLst>
              </a:tr>
              <a:tr h="1263134">
                <a:tc>
                  <a:txBody>
                    <a:bodyPr/>
                    <a:lstStyle/>
                    <a:p>
                      <a:r>
                        <a:rPr sz="800">
                          <a:latin typeface="Calibri"/>
                        </a:rPr>
                        <a:t>Performance analysis
of CNN models for
disease detection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Calibri"/>
                        </a:rPr>
                        <a:t>Sharma
et al.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Calibri"/>
                        </a:rPr>
                        <a:t>2020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Calibri"/>
                        </a:rPr>
                        <a:t>Information
Processing in
Agriculture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Calibri"/>
                        </a:rPr>
                        <a:t>CNN with
image
segmentation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Calibri"/>
                        </a:rPr>
                        <a:t>Improved
segmentation
accuracy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Calibri"/>
                        </a:rPr>
                        <a:t>Not integrated
with farming
advisory system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382295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79" y="7937"/>
            <a:ext cx="918575" cy="897699"/>
          </a:xfrm>
          <a:prstGeom prst="rect">
            <a:avLst/>
          </a:prstGeom>
        </p:spPr>
      </p:pic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3B5DB25C-12FA-832E-0E66-3B6581A22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b="1" dirty="0"/>
              <a:t>22CSE65 - PROJECT PHASE - 1</a:t>
            </a:r>
          </a:p>
        </p:txBody>
      </p:sp>
    </p:spTree>
    <p:extLst>
      <p:ext uri="{BB962C8B-B14F-4D97-AF65-F5344CB8AC3E}">
        <p14:creationId xmlns:p14="http://schemas.microsoft.com/office/powerpoint/2010/main" val="3245310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0">
              <a:lnSpc>
                <a:spcPct val="150000"/>
              </a:lnSpc>
              <a:spcAft>
                <a:spcPts val="400"/>
              </a:spcAft>
              <a:buNone/>
            </a:pPr>
            <a:r>
              <a:rPr sz="1300">
                <a:latin typeface="Calibri"/>
              </a:rPr>
              <a:t>Indian farmers lack accessible, integrated, and timely agricultural advisory services.</a:t>
            </a:r>
            <a:endParaRPr lang="en-US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</a:pPr>
            <a:r>
              <a:rPr sz="1300">
                <a:latin typeface="Calibri"/>
              </a:rPr>
              <a:t>Existing systems address only ONE aspect — either crop recommendation OR disease detection OR yield prediction — not all three together.</a:t>
            </a:r>
          </a:p>
          <a:p>
            <a:pPr>
              <a:spcAft>
                <a:spcPts val="400"/>
              </a:spcAft>
            </a:pPr>
            <a:r>
              <a:rPr sz="1300">
                <a:latin typeface="Calibri"/>
              </a:rPr>
              <a:t>Most AI-based agricultural solutions are designed for large-scale commercial farming and are inaccessible to small/marginal farmers.</a:t>
            </a:r>
          </a:p>
          <a:p>
            <a:pPr>
              <a:spcAft>
                <a:spcPts val="400"/>
              </a:spcAft>
            </a:pPr>
            <a:r>
              <a:rPr sz="1300">
                <a:latin typeface="Calibri"/>
              </a:rPr>
              <a:t>Available solutions are English-only and require technical literacy, excluding 65% of Indian farmers.</a:t>
            </a:r>
          </a:p>
          <a:p>
            <a:pPr>
              <a:spcAft>
                <a:spcPts val="400"/>
              </a:spcAft>
            </a:pPr>
            <a:r>
              <a:rPr sz="1300">
                <a:latin typeface="Calibri"/>
              </a:rPr>
              <a:t>Academic disease detection models show high accuracy in labs but degrade significantly (by ~20%) in real-world field conditions.</a:t>
            </a:r>
          </a:p>
          <a:p>
            <a:pPr>
              <a:spcAft>
                <a:spcPts val="400"/>
              </a:spcAft>
            </a:pPr>
            <a:r>
              <a:rPr sz="1300">
                <a:latin typeface="Calibri"/>
              </a:rPr>
              <a:t>No existing platform provides offline-capable, voice-assisted, multilingual farming advice.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79" y="7937"/>
            <a:ext cx="918575" cy="897699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F85BA7-2A43-C886-065F-191A814E7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/>
              <a:t>22CSE65 - PROJECT PHASE - 1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71927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0">
              <a:lnSpc>
                <a:spcPct val="150000"/>
              </a:lnSpc>
              <a:spcAft>
                <a:spcPts val="200"/>
              </a:spcAft>
              <a:buNone/>
            </a:pPr>
            <a:r>
              <a:rPr sz="1400" b="1">
                <a:latin typeface="Calibri"/>
              </a:rPr>
              <a:t>Integration Gap</a:t>
            </a:r>
            <a:endParaRPr lang="en-US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Aft>
                <a:spcPts val="200"/>
              </a:spcAft>
            </a:pPr>
            <a:r>
              <a:rPr sz="1200">
                <a:latin typeface="Calibri"/>
              </a:rPr>
              <a:t>Existing systems handle only one function (crop OR disease OR yield)</a:t>
            </a:r>
          </a:p>
          <a:p>
            <a:pPr lvl="1">
              <a:spcAft>
                <a:spcPts val="200"/>
              </a:spcAft>
            </a:pPr>
            <a:r>
              <a:rPr sz="1200">
                <a:latin typeface="Calibri"/>
              </a:rPr>
              <a:t>No unified platform combining all three AI modules</a:t>
            </a:r>
          </a:p>
          <a:p>
            <a:pPr>
              <a:spcAft>
                <a:spcPts val="200"/>
              </a:spcAft>
            </a:pPr>
            <a:r>
              <a:rPr sz="1400" b="1">
                <a:latin typeface="Calibri"/>
              </a:rPr>
              <a:t>Accessibility Gap</a:t>
            </a:r>
          </a:p>
          <a:p>
            <a:pPr lvl="1">
              <a:spcAft>
                <a:spcPts val="200"/>
              </a:spcAft>
            </a:pPr>
            <a:r>
              <a:rPr sz="1200">
                <a:latin typeface="Calibri"/>
              </a:rPr>
              <a:t>Solutions not designed for semi-literate, rural users</a:t>
            </a:r>
          </a:p>
          <a:p>
            <a:pPr lvl="1">
              <a:spcAft>
                <a:spcPts val="200"/>
              </a:spcAft>
            </a:pPr>
            <a:r>
              <a:rPr sz="1200">
                <a:latin typeface="Calibri"/>
              </a:rPr>
              <a:t>Complex interfaces requiring high digital literacy</a:t>
            </a:r>
          </a:p>
          <a:p>
            <a:pPr>
              <a:spcAft>
                <a:spcPts val="200"/>
              </a:spcAft>
            </a:pPr>
            <a:r>
              <a:rPr sz="1400" b="1">
                <a:latin typeface="Calibri"/>
              </a:rPr>
              <a:t>Language Gap</a:t>
            </a:r>
          </a:p>
          <a:p>
            <a:pPr lvl="1">
              <a:spcAft>
                <a:spcPts val="200"/>
              </a:spcAft>
            </a:pPr>
            <a:r>
              <a:rPr sz="1200">
                <a:latin typeface="Calibri"/>
              </a:rPr>
              <a:t>Very few systems offer regional Indian language support</a:t>
            </a:r>
          </a:p>
          <a:p>
            <a:pPr lvl="1">
              <a:spcAft>
                <a:spcPts val="200"/>
              </a:spcAft>
            </a:pPr>
            <a:r>
              <a:rPr sz="1200">
                <a:latin typeface="Calibri"/>
              </a:rPr>
              <a:t>KrushikaDhara supports Hindi, Kannada, Telugu, and English</a:t>
            </a:r>
          </a:p>
          <a:p>
            <a:pPr>
              <a:spcAft>
                <a:spcPts val="200"/>
              </a:spcAft>
            </a:pPr>
            <a:r>
              <a:rPr sz="1400" b="1">
                <a:latin typeface="Calibri"/>
              </a:rPr>
              <a:t>Deployment Gap</a:t>
            </a:r>
          </a:p>
          <a:p>
            <a:pPr lvl="1">
              <a:spcAft>
                <a:spcPts val="200"/>
              </a:spcAft>
            </a:pPr>
            <a:r>
              <a:rPr sz="1200">
                <a:latin typeface="Calibri"/>
              </a:rPr>
              <a:t>Academic models remain as prototypes, not deployed as usable products</a:t>
            </a:r>
          </a:p>
          <a:p>
            <a:pPr>
              <a:spcAft>
                <a:spcPts val="200"/>
              </a:spcAft>
            </a:pPr>
            <a:r>
              <a:rPr sz="1400" b="1">
                <a:latin typeface="Calibri"/>
              </a:rPr>
              <a:t>Real-World Accuracy Gap</a:t>
            </a:r>
          </a:p>
          <a:p>
            <a:pPr lvl="1">
              <a:spcAft>
                <a:spcPts val="200"/>
              </a:spcAft>
            </a:pPr>
            <a:r>
              <a:rPr sz="1200">
                <a:latin typeface="Calibri"/>
              </a:rPr>
              <a:t>Lab-trained CNN models drop ~20% accuracy in field conditions</a:t>
            </a:r>
          </a:p>
          <a:p>
            <a:pPr lvl="1">
              <a:spcAft>
                <a:spcPts val="200"/>
              </a:spcAft>
            </a:pPr>
            <a:r>
              <a:rPr sz="1200">
                <a:latin typeface="Calibri"/>
              </a:rPr>
              <a:t>KrushikaDhara uses data augmentation to achieve 91.3% field accuracy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79" y="7937"/>
            <a:ext cx="918575" cy="897699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F85BA7-2A43-C886-065F-191A814E7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22CSE65 - PROJECT PHASE - 1</a:t>
            </a:r>
          </a:p>
        </p:txBody>
      </p:sp>
    </p:spTree>
    <p:extLst>
      <p:ext uri="{BB962C8B-B14F-4D97-AF65-F5344CB8AC3E}">
        <p14:creationId xmlns:p14="http://schemas.microsoft.com/office/powerpoint/2010/main" val="2842752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400" indent="0">
              <a:lnSpc>
                <a:spcPct val="150000"/>
              </a:lnSpc>
              <a:spcAft>
                <a:spcPts val="200"/>
              </a:spcAft>
              <a:buNone/>
            </a:pPr>
            <a:r>
              <a:rPr sz="1300" b="1">
                <a:latin typeface="Calibri"/>
              </a:rPr>
              <a:t>Functional Requirements</a:t>
            </a:r>
          </a:p>
          <a:p>
            <a:pPr lvl="1">
              <a:spcAft>
                <a:spcPts val="200"/>
              </a:spcAft>
            </a:pPr>
            <a:r>
              <a:rPr sz="1100">
                <a:latin typeface="Calibri"/>
              </a:rPr>
              <a:t>Crop recommendation based on soil (N, P, K, pH) and climate data</a:t>
            </a:r>
          </a:p>
          <a:p>
            <a:pPr lvl="1">
              <a:spcAft>
                <a:spcPts val="200"/>
              </a:spcAft>
            </a:pPr>
            <a:r>
              <a:rPr sz="1100">
                <a:latin typeface="Calibri"/>
              </a:rPr>
              <a:t>Disease detection via leaf image upload (camera/gallery)</a:t>
            </a:r>
          </a:p>
          <a:p>
            <a:pPr lvl="1">
              <a:spcAft>
                <a:spcPts val="200"/>
              </a:spcAft>
            </a:pPr>
            <a:r>
              <a:rPr sz="1100">
                <a:latin typeface="Calibri"/>
              </a:rPr>
              <a:t>Yield prediction based on crop, area, and historical data</a:t>
            </a:r>
          </a:p>
          <a:p>
            <a:pPr lvl="1">
              <a:spcAft>
                <a:spcPts val="200"/>
              </a:spcAft>
            </a:pPr>
            <a:r>
              <a:rPr sz="1100">
                <a:latin typeface="Calibri"/>
              </a:rPr>
              <a:t>OTP-based user authentication (no email required)</a:t>
            </a:r>
          </a:p>
          <a:p>
            <a:pPr lvl="1">
              <a:spcAft>
                <a:spcPts val="200"/>
              </a:spcAft>
            </a:pPr>
            <a:r>
              <a:rPr sz="1100">
                <a:latin typeface="Calibri"/>
              </a:rPr>
              <a:t>Multilingual UI (Hindi, Kannada, Telugu, English)</a:t>
            </a:r>
          </a:p>
          <a:p>
            <a:pPr lvl="1">
              <a:spcAft>
                <a:spcPts val="200"/>
              </a:spcAft>
            </a:pPr>
            <a:r>
              <a:rPr sz="1100">
                <a:latin typeface="Calibri"/>
              </a:rPr>
              <a:t>Voice-assisted input and output for accessibility</a:t>
            </a:r>
          </a:p>
          <a:p>
            <a:pPr lvl="1">
              <a:spcAft>
                <a:spcPts val="200"/>
              </a:spcAft>
            </a:pPr>
            <a:r>
              <a:rPr sz="1100">
                <a:latin typeface="Calibri"/>
              </a:rPr>
              <a:t>Market price display from Agmarknet/e-NAM</a:t>
            </a:r>
          </a:p>
          <a:p>
            <a:pPr>
              <a:spcAft>
                <a:spcPts val="200"/>
              </a:spcAft>
            </a:pPr>
            <a:r>
              <a:rPr sz="1300" b="1">
                <a:latin typeface="Calibri"/>
              </a:rPr>
              <a:t>Non-Functional Requirements</a:t>
            </a:r>
          </a:p>
          <a:p>
            <a:pPr lvl="1">
              <a:spcAft>
                <a:spcPts val="200"/>
              </a:spcAft>
            </a:pPr>
            <a:r>
              <a:rPr sz="1100">
                <a:latin typeface="Calibri"/>
              </a:rPr>
              <a:t>Response time &lt; 2 seconds for recommendations</a:t>
            </a:r>
          </a:p>
          <a:p>
            <a:pPr lvl="1">
              <a:spcAft>
                <a:spcPts val="200"/>
              </a:spcAft>
            </a:pPr>
            <a:r>
              <a:rPr sz="1100">
                <a:latin typeface="Calibri"/>
              </a:rPr>
              <a:t>Disease detection inference &lt; 500ms on mobile</a:t>
            </a:r>
          </a:p>
          <a:p>
            <a:pPr lvl="1">
              <a:spcAft>
                <a:spcPts val="200"/>
              </a:spcAft>
            </a:pPr>
            <a:r>
              <a:rPr sz="1100">
                <a:latin typeface="Calibri"/>
              </a:rPr>
              <a:t>System uptime ≥ 99.5% (cloud-based)</a:t>
            </a:r>
          </a:p>
          <a:p>
            <a:pPr lvl="1">
              <a:spcAft>
                <a:spcPts val="200"/>
              </a:spcAft>
            </a:pPr>
            <a:r>
              <a:rPr sz="1100">
                <a:latin typeface="Calibri"/>
              </a:rPr>
              <a:t>Support for 1000+ concurrent users</a:t>
            </a:r>
          </a:p>
          <a:p>
            <a:pPr lvl="1">
              <a:spcAft>
                <a:spcPts val="200"/>
              </a:spcAft>
            </a:pPr>
            <a:r>
              <a:rPr sz="1100">
                <a:latin typeface="Calibri"/>
              </a:rPr>
              <a:t>TFLite model size &lt; 10 MB for offline use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79" y="7937"/>
            <a:ext cx="918575" cy="897699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F85BA7-2A43-C886-065F-191A814E7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/>
              <a:t>22CSE65 - PROJECT PHASE - 1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93374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spcAft>
                <a:spcPts val="200"/>
              </a:spcAft>
            </a:pPr>
            <a:r>
              <a:rPr sz="1300" b="1">
                <a:latin typeface="Calibri"/>
              </a:rPr>
              <a:t>System Architecture (3-Module Design)</a:t>
            </a:r>
          </a:p>
          <a:p>
            <a:pPr lvl="1">
              <a:spcAft>
                <a:spcPts val="200"/>
              </a:spcAft>
            </a:pPr>
            <a:r>
              <a:rPr sz="1100">
                <a:latin typeface="Calibri"/>
              </a:rPr>
              <a:t>Module 1: Crop Recommender — Random Forest (100 estimators) trained on 2,200 samples, 22 crops</a:t>
            </a:r>
          </a:p>
          <a:p>
            <a:pPr lvl="1">
              <a:spcAft>
                <a:spcPts val="200"/>
              </a:spcAft>
            </a:pPr>
            <a:r>
              <a:rPr sz="1100">
                <a:latin typeface="Calibri"/>
              </a:rPr>
              <a:t>Module 2: Disease Detector — MobileNetV2 CNN fine-tuned on PlantVillage (54,305 images, 38 classes)</a:t>
            </a:r>
          </a:p>
          <a:p>
            <a:pPr lvl="1">
              <a:spcAft>
                <a:spcPts val="200"/>
              </a:spcAft>
            </a:pPr>
            <a:r>
              <a:rPr sz="1100">
                <a:latin typeface="Calibri"/>
              </a:rPr>
              <a:t>Module 3: Yield Predictor — XGBoost regressor on 10 years of district-wise data</a:t>
            </a:r>
          </a:p>
          <a:p>
            <a:pPr>
              <a:spcAft>
                <a:spcPts val="200"/>
              </a:spcAft>
            </a:pPr>
            <a:r>
              <a:rPr sz="1300" b="1">
                <a:latin typeface="Calibri"/>
              </a:rPr>
              <a:t>Technology Stack</a:t>
            </a:r>
          </a:p>
          <a:p>
            <a:pPr lvl="1">
              <a:spcAft>
                <a:spcPts val="200"/>
              </a:spcAft>
            </a:pPr>
            <a:r>
              <a:rPr sz="1100">
                <a:latin typeface="Calibri"/>
              </a:rPr>
              <a:t>Backend: Python + Flask REST API, deployed on Render/AWS</a:t>
            </a:r>
          </a:p>
          <a:p>
            <a:pPr lvl="1">
              <a:spcAft>
                <a:spcPts val="200"/>
              </a:spcAft>
            </a:pPr>
            <a:r>
              <a:rPr sz="1100">
                <a:latin typeface="Calibri"/>
              </a:rPr>
              <a:t>ML: scikit-learn, TensorFlow/Keras, XGBoost</a:t>
            </a:r>
          </a:p>
          <a:p>
            <a:pPr lvl="1">
              <a:spcAft>
                <a:spcPts val="200"/>
              </a:spcAft>
            </a:pPr>
            <a:r>
              <a:rPr sz="1100">
                <a:latin typeface="Calibri"/>
              </a:rPr>
              <a:t>Frontend: Flutter (Mobile), React (Web Dashboard)</a:t>
            </a:r>
          </a:p>
          <a:p>
            <a:pPr lvl="1">
              <a:spcAft>
                <a:spcPts val="200"/>
              </a:spcAft>
            </a:pPr>
            <a:r>
              <a:rPr sz="1100">
                <a:latin typeface="Calibri"/>
              </a:rPr>
              <a:t>Database: Firebase Firestore + Auth + Cloud Messaging</a:t>
            </a:r>
          </a:p>
          <a:p>
            <a:pPr lvl="1">
              <a:spcAft>
                <a:spcPts val="200"/>
              </a:spcAft>
            </a:pPr>
            <a:r>
              <a:rPr sz="1100">
                <a:latin typeface="Calibri"/>
              </a:rPr>
              <a:t>APIs: OpenWeatherMap (weather), Agmarknet (market prices)</a:t>
            </a:r>
          </a:p>
          <a:p>
            <a:pPr>
              <a:spcAft>
                <a:spcPts val="200"/>
              </a:spcAft>
            </a:pPr>
            <a:r>
              <a:rPr sz="1300" b="1">
                <a:latin typeface="Calibri"/>
              </a:rPr>
              <a:t>Data Collection</a:t>
            </a:r>
          </a:p>
          <a:p>
            <a:pPr lvl="1">
              <a:spcAft>
                <a:spcPts val="200"/>
              </a:spcAft>
            </a:pPr>
            <a:r>
              <a:rPr sz="1100">
                <a:latin typeface="Calibri"/>
              </a:rPr>
              <a:t>Kaggle Crop Recommendation Dataset (N, P, K, pH, temp, humidity, rainfall)</a:t>
            </a:r>
          </a:p>
          <a:p>
            <a:pPr lvl="1">
              <a:spcAft>
                <a:spcPts val="200"/>
              </a:spcAft>
            </a:pPr>
            <a:r>
              <a:rPr sz="1100">
                <a:latin typeface="Calibri"/>
              </a:rPr>
              <a:t>PlantVillage Dataset (54,305 leaf images across 38 disease classes)</a:t>
            </a:r>
          </a:p>
          <a:p>
            <a:pPr lvl="1">
              <a:spcAft>
                <a:spcPts val="200"/>
              </a:spcAft>
            </a:pPr>
            <a:r>
              <a:rPr sz="1100">
                <a:latin typeface="Calibri"/>
              </a:rPr>
              <a:t>data.gov.in (district-wise yield data, 10 years, 5 crops, 50 districts)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79" y="7937"/>
            <a:ext cx="918575" cy="897699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F85BA7-2A43-C886-065F-191A814E7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/>
              <a:t>22CSE65 - PROJECT PHASE - 1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49236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Enhancements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79" y="7937"/>
            <a:ext cx="918575" cy="897699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F85BA7-2A43-C886-065F-191A814E7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/>
              <a:t>22CSE65 - PROJECT PHASE - 1</a:t>
            </a:r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latin typeface="Calibri"/>
              </a:rPr>
              <a:t>Conclusion</a:t>
            </a:r>
          </a:p>
          <a:p>
            <a:pPr lvl="1">
              <a:spcAft>
                <a:spcPts val="200"/>
              </a:spcAft>
            </a:pPr>
            <a:r>
              <a:rPr sz="1200">
                <a:latin typeface="Calibri"/>
              </a:rPr>
              <a:t>KrushikaDhara integrates crop recommendation, disease detection, and yield prediction into one platform</a:t>
            </a:r>
          </a:p>
          <a:p>
            <a:pPr lvl="1">
              <a:spcAft>
                <a:spcPts val="200"/>
              </a:spcAft>
            </a:pPr>
            <a:r>
              <a:rPr sz="1200">
                <a:latin typeface="Calibri"/>
              </a:rPr>
              <a:t>Achieved: 94.2% (crop), 96.1% (disease), R²=0.89 (yield) accuracy</a:t>
            </a:r>
          </a:p>
          <a:p>
            <a:pPr lvl="1">
              <a:spcAft>
                <a:spcPts val="200"/>
              </a:spcAft>
            </a:pPr>
            <a:r>
              <a:rPr sz="1200">
                <a:latin typeface="Calibri"/>
              </a:rPr>
              <a:t>Mobile-first, multilingual, voice-assisted design for rural accessibility</a:t>
            </a:r>
          </a:p>
          <a:p>
            <a:pPr lvl="1">
              <a:spcAft>
                <a:spcPts val="200"/>
              </a:spcAft>
            </a:pPr>
            <a:r>
              <a:rPr sz="1200">
                <a:latin typeface="Calibri"/>
              </a:rPr>
              <a:t>Lightweight TFLite model enables offline disease detection (8.7 MB, 320ms)</a:t>
            </a:r>
          </a:p>
          <a:p>
            <a:pPr lvl="1">
              <a:spcAft>
                <a:spcPts val="200"/>
              </a:spcAft>
            </a:pPr>
            <a:r>
              <a:rPr sz="1200">
                <a:latin typeface="Calibri"/>
              </a:rPr>
              <a:t>Scalable cloud architecture supports thousands of concurrent users</a:t>
            </a:r>
          </a:p>
          <a:p>
            <a:pPr>
              <a:spcAft>
                <a:spcPts val="200"/>
              </a:spcAft>
            </a:pPr>
            <a:r>
              <a:rPr sz="1400" b="1">
                <a:latin typeface="Calibri"/>
              </a:rPr>
              <a:t>Future Enhancements</a:t>
            </a:r>
          </a:p>
          <a:p>
            <a:pPr lvl="1">
              <a:spcAft>
                <a:spcPts val="200"/>
              </a:spcAft>
            </a:pPr>
            <a:r>
              <a:rPr sz="1200">
                <a:latin typeface="Calibri"/>
              </a:rPr>
              <a:t>IoT Integration — soil moisture sensors for automated real-time data</a:t>
            </a:r>
          </a:p>
          <a:p>
            <a:pPr lvl="1">
              <a:spcAft>
                <a:spcPts val="200"/>
              </a:spcAft>
            </a:pPr>
            <a:r>
              <a:rPr sz="1200">
                <a:latin typeface="Calibri"/>
              </a:rPr>
              <a:t>Drone Surveillance — UAV-based multispectral crop health mapping</a:t>
            </a:r>
          </a:p>
          <a:p>
            <a:pPr lvl="1">
              <a:spcAft>
                <a:spcPts val="200"/>
              </a:spcAft>
            </a:pPr>
            <a:r>
              <a:rPr sz="1200">
                <a:latin typeface="Calibri"/>
              </a:rPr>
              <a:t>Generative AI Chatbot — GPT-based conversational farming advice</a:t>
            </a:r>
          </a:p>
          <a:p>
            <a:pPr lvl="1">
              <a:spcAft>
                <a:spcPts val="200"/>
              </a:spcAft>
            </a:pPr>
            <a:r>
              <a:rPr sz="1200">
                <a:latin typeface="Calibri"/>
              </a:rPr>
              <a:t>Blockchain — farm-to-market produce tracking for fair pricing</a:t>
            </a:r>
          </a:p>
          <a:p>
            <a:pPr lvl="1">
              <a:spcAft>
                <a:spcPts val="200"/>
              </a:spcAft>
            </a:pPr>
            <a:r>
              <a:rPr sz="1200">
                <a:latin typeface="Calibri"/>
              </a:rPr>
              <a:t>Federated Learning — distributed model training without centralizing data</a:t>
            </a:r>
          </a:p>
          <a:p>
            <a:pPr lvl="1">
              <a:spcAft>
                <a:spcPts val="200"/>
              </a:spcAft>
            </a:pPr>
            <a:r>
              <a:rPr sz="1200">
                <a:latin typeface="Calibri"/>
              </a:rPr>
              <a:t>Government Portal Integration — PM-KISAN, e-NAM, Soil Health Card</a:t>
            </a:r>
          </a:p>
        </p:txBody>
      </p:sp>
    </p:spTree>
    <p:extLst>
      <p:ext uri="{BB962C8B-B14F-4D97-AF65-F5344CB8AC3E}">
        <p14:creationId xmlns:p14="http://schemas.microsoft.com/office/powerpoint/2010/main" val="2238385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79" y="7937"/>
            <a:ext cx="918575" cy="897699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A787EB-9EE5-3F4F-B43F-5DA580283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/>
              <a:t>22CSE65 - PROJECT PHASE - 1</a:t>
            </a:r>
            <a:endParaRPr lang="en-US" b="1" dirty="0"/>
          </a:p>
        </p:txBody>
      </p:sp>
      <p:pic>
        <p:nvPicPr>
          <p:cNvPr id="1026" name="Picture 2" descr="Job Interview Thank You Email ...">
            <a:extLst>
              <a:ext uri="{FF2B5EF4-FFF2-40B4-BE49-F238E27FC236}">
                <a16:creationId xmlns:a16="http://schemas.microsoft.com/office/drawing/2014/main" id="{96B7ACAD-1A02-66CD-5057-F9E8D5AAA9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8181" y="1310368"/>
            <a:ext cx="8842198" cy="393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TextBox 1026"/>
          <p:cNvSpPr txBox="1"/>
          <p:nvPr/>
        </p:nvSpPr>
        <p:spPr>
          <a:xfrm>
            <a:off x="1371600" y="18288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A5C2E"/>
                </a:solidFill>
                <a:latin typeface="Calibri"/>
              </a:rPr>
              <a:t>Thank You!</a:t>
            </a:r>
          </a:p>
          <a:p>
            <a:pPr algn="ctr">
              <a:spcBef>
                <a:spcPts val="2000"/>
              </a:spcBef>
            </a:pPr>
            <a:r>
              <a:rPr sz="2400">
                <a:latin typeface="Calibri"/>
              </a:rPr>
              <a:t>Questions?</a:t>
            </a:r>
          </a:p>
          <a:p>
            <a:pPr algn="ctr">
              <a:spcBef>
                <a:spcPts val="3000"/>
              </a:spcBef>
            </a:pPr>
            <a:r>
              <a:rPr sz="1600" b="1">
                <a:latin typeface="Calibri"/>
              </a:rPr>
              <a:t>Naveen Kumar KM | 1NH24CS409</a:t>
            </a:r>
          </a:p>
          <a:p>
            <a:pPr algn="ctr"/>
            <a:r>
              <a:rPr sz="1400">
                <a:latin typeface="Calibri"/>
              </a:rPr>
              <a:t>1nh24cs409@newhorizonindia.edu</a:t>
            </a:r>
          </a:p>
        </p:txBody>
      </p:sp>
    </p:spTree>
    <p:extLst>
      <p:ext uri="{BB962C8B-B14F-4D97-AF65-F5344CB8AC3E}">
        <p14:creationId xmlns:p14="http://schemas.microsoft.com/office/powerpoint/2010/main" val="821237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336</TotalTime>
  <Words>155</Words>
  <Application>Microsoft Office PowerPoint</Application>
  <PresentationFormat>Widescreen</PresentationFormat>
  <Paragraphs>49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Wingdings</vt:lpstr>
      <vt:lpstr>Office Theme</vt:lpstr>
      <vt:lpstr>PROJECT TITLE</vt:lpstr>
      <vt:lpstr>Outline</vt:lpstr>
      <vt:lpstr>Introduction</vt:lpstr>
      <vt:lpstr>Introduction</vt:lpstr>
      <vt:lpstr>Literature Survey</vt:lpstr>
      <vt:lpstr>Problem statement</vt:lpstr>
      <vt:lpstr>Research Gap Analysis</vt:lpstr>
      <vt:lpstr>Requirement Specification</vt:lpstr>
      <vt:lpstr>Methodology</vt:lpstr>
      <vt:lpstr>Conclusion and Future Enhancements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Project</dc:title>
  <dc:creator>HAI</dc:creator>
  <cp:lastModifiedBy>soja naveen</cp:lastModifiedBy>
  <cp:revision>79</cp:revision>
  <dcterms:created xsi:type="dcterms:W3CDTF">2022-07-15T05:39:19Z</dcterms:created>
  <dcterms:modified xsi:type="dcterms:W3CDTF">2026-03-17T08:39:14Z</dcterms:modified>
</cp:coreProperties>
</file>